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3B3E2-8B6B-C46E-520B-DB6629139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F0BD0-F43B-C237-DC4B-FD1A890E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2FF3A-A6E0-A4B5-146C-6FCE7C2EC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992DC-7D5C-4848-8A52-BCBFB3F4D06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95779-AE5A-88C9-58DE-1A2C5AAC7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FB219-9CF7-0531-30B7-6EAC5818B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E662A-A297-420B-B889-331CEADAF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447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13EF-92D2-38BA-D19A-4289243C1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91BF7-862F-876A-30D4-279AD507E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A9D08-46B8-37E9-D732-5A978E1F2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992DC-7D5C-4848-8A52-BCBFB3F4D06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7FE39-7140-AE1E-DD1F-B3CF3A8A4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87C92-BD06-EADC-C872-A2BB83F81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E662A-A297-420B-B889-331CEADAF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08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3CFD-D129-1F17-5DD0-6E06A4FEE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A16B9-84E4-751C-6006-B99D78AD1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16D04-B5BF-577B-45C3-EBCCC9FB4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992DC-7D5C-4848-8A52-BCBFB3F4D06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C9C3E-788F-0989-2934-4995E0FED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B982E-402F-DC2D-9380-4C39E5996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E662A-A297-420B-B889-331CEADAF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438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F8198-68D3-57D0-7FB6-903D8E0F0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E0800-6F6D-0E1E-2AAA-DB8BA9ED5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F943F-A8F6-BAAA-7191-5A8E79124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26925-0325-5ED7-0AF9-01787A68A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992DC-7D5C-4848-8A52-BCBFB3F4D06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68418-6249-9AEC-055B-2563B8C32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79E94-697B-304F-F996-30B869413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E662A-A297-420B-B889-331CEADAF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090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1AF9D-9720-4291-0BAC-970BDC2ED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087B3-F8E9-7F60-36EF-56B13B37A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DAE6A-8889-889F-345B-024EA6975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10C9F-6986-F8B2-D469-26A126A9BF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A4BEA1-2BE1-F07D-CC7B-DC78DC9BAE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912509-0400-2D21-914F-DB646E673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992DC-7D5C-4848-8A52-BCBFB3F4D06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0BF41F-2D87-5CD2-B6FE-B3F0FEC0C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18A4-C236-7162-C26E-130BB90FD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E662A-A297-420B-B889-331CEADAF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401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02130-9E1C-A62F-3A70-1E97BA9F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E47A14-C0E3-C33D-878B-CE6A8498A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992DC-7D5C-4848-8A52-BCBFB3F4D06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52F2A-CCE1-CB85-FA6B-EC6C8606D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4D090-5D47-B6E1-81A2-9406BD70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E662A-A297-420B-B889-331CEADAF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34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A7345-CBD5-C8A8-3671-6FD82BDF3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992DC-7D5C-4848-8A52-BCBFB3F4D06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9760B9-BB78-8BDD-961F-B15AF9E32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E238B-845B-42C4-DA08-ADF7F97A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E662A-A297-420B-B889-331CEADAF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071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5C04C-C8B5-FD95-F41B-1A422F6A6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2885D-2645-E65C-DCC7-9A7B6F477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AC881-6B83-BC81-5E76-F9D83F628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069BF-3C4B-6E12-2473-81BD90F19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992DC-7D5C-4848-8A52-BCBFB3F4D06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C1F96-6F15-ABF6-59B4-81F66B3E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38A1D-BFB2-D2E1-AFFF-3774F361C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E662A-A297-420B-B889-331CEADAF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378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7671B-BBD5-96E6-348E-849379F7C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747120-5B10-103A-8815-5951068D7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FA8B1-86F9-2D25-0C1C-C6561D75B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31BA7-EC79-25E2-A79B-9B444724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992DC-7D5C-4848-8A52-BCBFB3F4D06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5644B-AB86-EEA8-32B6-91475F5A5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A72DD-CECB-78C3-57CB-FC801085E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E662A-A297-420B-B889-331CEADAF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890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BA8EF-E1AC-1849-ABCF-631927C4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03B17-B2FD-9831-BE19-C6099A0C8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60404-9439-FC8E-D215-B67773C23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992DC-7D5C-4848-8A52-BCBFB3F4D06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A3AD8-D136-CB10-180B-250ECAB0A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E8584-72A2-DCC8-6C63-0FADCD45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E662A-A297-420B-B889-331CEADAF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27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CE439-5BC1-239A-6452-6C10EA119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2B82DC-7F02-00C8-437E-5F41D5148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54493-D071-9305-4938-CC599D44A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992DC-7D5C-4848-8A52-BCBFB3F4D06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F9FAB-18BC-4B1C-C353-A4AC4BB59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9FFCF-584F-4E1A-3583-7AF3B2D3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E662A-A297-420B-B889-331CEADAF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70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A3BE9-7A74-EF3F-261F-F10169F8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D6420-46B7-8F39-1B94-269DCD4D3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293C1-8FF9-2E8A-76C6-6E43A131A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992DC-7D5C-4848-8A52-BCBFB3F4D06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BF98B-4B34-7288-669C-FCBDF52DD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8C0D4-6A44-F8BB-FD17-B1BFE7F4F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E662A-A297-420B-B889-331CEADAF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257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BE89D-BA92-714F-D0D2-5B72336B0E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Features </a:t>
            </a:r>
            <a:r>
              <a:rPr lang="en-US" sz="3600" dirty="0" err="1"/>
              <a:t>Extracation</a:t>
            </a:r>
            <a:r>
              <a:rPr lang="en-US" sz="3600" dirty="0"/>
              <a:t> and Price Prediction for mobile Phones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4B47F-E50F-B158-8A2F-81218FF2FA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Name-Abhishek Sharma</a:t>
            </a:r>
          </a:p>
          <a:p>
            <a:r>
              <a:rPr lang="en-US" dirty="0" err="1"/>
              <a:t>Oraganisation</a:t>
            </a:r>
            <a:r>
              <a:rPr lang="en-US" dirty="0"/>
              <a:t>- </a:t>
            </a:r>
            <a:r>
              <a:rPr lang="en-US" dirty="0" err="1"/>
              <a:t>NextHikes</a:t>
            </a:r>
            <a:r>
              <a:rPr lang="en-US" dirty="0"/>
              <a:t> IT solution</a:t>
            </a:r>
          </a:p>
          <a:p>
            <a:r>
              <a:rPr lang="en-US" dirty="0"/>
              <a:t>Date-28-feb-2026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7511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A5A240-2F2B-B18E-AAAF-E247F6F3D0DA}"/>
              </a:ext>
            </a:extLst>
          </p:cNvPr>
          <p:cNvSpPr txBox="1"/>
          <p:nvPr/>
        </p:nvSpPr>
        <p:spPr>
          <a:xfrm>
            <a:off x="739140" y="1181100"/>
            <a:ext cx="84048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Project Overview</a:t>
            </a:r>
          </a:p>
          <a:p>
            <a:pPr>
              <a:buNone/>
            </a:pPr>
            <a:r>
              <a:rPr lang="en-IN" b="1" dirty="0"/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Mobile phone prices depend on multiple hardware specifications.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Different features like RAM, Storage, Battery, Camera, and Processor affect pricing.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This project uses Machine Learning techniques to predict mobile phone prices based on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84193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B07FE1-54FF-D894-E0D6-8B1702C8B9CA}"/>
              </a:ext>
            </a:extLst>
          </p:cNvPr>
          <p:cNvSpPr txBox="1"/>
          <p:nvPr/>
        </p:nvSpPr>
        <p:spPr>
          <a:xfrm>
            <a:off x="800100" y="1371600"/>
            <a:ext cx="963167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Project Objective</a:t>
            </a:r>
          </a:p>
          <a:p>
            <a:pPr>
              <a:buNone/>
            </a:pPr>
            <a:r>
              <a:rPr lang="en-IN" b="1" dirty="0"/>
              <a:t>Objective</a:t>
            </a:r>
          </a:p>
          <a:p>
            <a:pPr>
              <a:buNone/>
            </a:pPr>
            <a:r>
              <a:rPr lang="en-IN" dirty="0"/>
              <a:t>The objective of this project 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Identify important features affecting mobile phone prices.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Perform data analysis and feature engineering.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Develop machine learning regression models.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Select the best performing model for price prediction.</a:t>
            </a:r>
          </a:p>
        </p:txBody>
      </p:sp>
    </p:spTree>
    <p:extLst>
      <p:ext uri="{BB962C8B-B14F-4D97-AF65-F5344CB8AC3E}">
        <p14:creationId xmlns:p14="http://schemas.microsoft.com/office/powerpoint/2010/main" val="4062689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755333-7EAE-D4F2-00A4-776E0BDCB7D1}"/>
              </a:ext>
            </a:extLst>
          </p:cNvPr>
          <p:cNvSpPr txBox="1"/>
          <p:nvPr/>
        </p:nvSpPr>
        <p:spPr>
          <a:xfrm>
            <a:off x="822960" y="1539240"/>
            <a:ext cx="83210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Problem Statement</a:t>
            </a:r>
          </a:p>
          <a:p>
            <a:pPr>
              <a:buNone/>
            </a:pPr>
            <a:r>
              <a:rPr lang="en-IN" b="1" dirty="0"/>
              <a:t>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Smartphone pricing depends on many technical specifications.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Manual price estimation is time-consuming.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machine learning model can </a:t>
            </a:r>
            <a:r>
              <a:rPr lang="en-IN" dirty="0" err="1"/>
              <a:t>analyze</a:t>
            </a:r>
            <a:r>
              <a:rPr lang="en-IN" dirty="0"/>
              <a:t> historical data and predict prices accurately. </a:t>
            </a:r>
          </a:p>
          <a:p>
            <a:pPr>
              <a:buNone/>
            </a:pPr>
            <a:r>
              <a:rPr lang="en-IN" b="1" dirty="0"/>
              <a:t>Solution</a:t>
            </a:r>
          </a:p>
          <a:p>
            <a:pPr>
              <a:buNone/>
            </a:pPr>
            <a:r>
              <a:rPr lang="en-IN" dirty="0"/>
              <a:t>Develop a regression model that predicts mobile prices using device specifications.</a:t>
            </a:r>
          </a:p>
        </p:txBody>
      </p:sp>
    </p:spTree>
    <p:extLst>
      <p:ext uri="{BB962C8B-B14F-4D97-AF65-F5344CB8AC3E}">
        <p14:creationId xmlns:p14="http://schemas.microsoft.com/office/powerpoint/2010/main" val="409242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A8CB86-DBC8-62B8-F126-E0FE9AB53DDA}"/>
              </a:ext>
            </a:extLst>
          </p:cNvPr>
          <p:cNvSpPr txBox="1"/>
          <p:nvPr/>
        </p:nvSpPr>
        <p:spPr>
          <a:xfrm>
            <a:off x="830580" y="320041"/>
            <a:ext cx="8157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Project Workflow</a:t>
            </a:r>
          </a:p>
          <a:p>
            <a:pPr>
              <a:buNone/>
            </a:pPr>
            <a:r>
              <a:rPr lang="en-IN" b="1" dirty="0"/>
              <a:t>Machine Learning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F576F4-D3D2-4D8A-9460-1795A90F469F}"/>
              </a:ext>
            </a:extLst>
          </p:cNvPr>
          <p:cNvSpPr txBox="1"/>
          <p:nvPr/>
        </p:nvSpPr>
        <p:spPr>
          <a:xfrm>
            <a:off x="975360" y="1043940"/>
            <a:ext cx="3276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Data Collection</a:t>
            </a:r>
          </a:p>
          <a:p>
            <a:r>
              <a:rPr lang="en-IN" sz="1600" dirty="0"/>
              <a:t>       ↓</a:t>
            </a:r>
          </a:p>
          <a:p>
            <a:r>
              <a:rPr lang="en-IN" sz="1600" dirty="0"/>
              <a:t>Data Cleaning</a:t>
            </a:r>
          </a:p>
          <a:p>
            <a:r>
              <a:rPr lang="en-IN" sz="1600" dirty="0"/>
              <a:t>       ↓</a:t>
            </a:r>
          </a:p>
          <a:p>
            <a:r>
              <a:rPr lang="en-IN" sz="1600" dirty="0"/>
              <a:t>Exploratory Data Analysis</a:t>
            </a:r>
          </a:p>
          <a:p>
            <a:r>
              <a:rPr lang="en-IN" sz="1600" dirty="0"/>
              <a:t>       ↓</a:t>
            </a:r>
          </a:p>
          <a:p>
            <a:r>
              <a:rPr lang="en-IN" sz="1600" dirty="0"/>
              <a:t>Feature Engineering</a:t>
            </a:r>
          </a:p>
          <a:p>
            <a:r>
              <a:rPr lang="en-IN" sz="1600" dirty="0"/>
              <a:t>       ↓</a:t>
            </a:r>
          </a:p>
          <a:p>
            <a:r>
              <a:rPr lang="en-IN" sz="1600" dirty="0"/>
              <a:t>Model Training</a:t>
            </a:r>
          </a:p>
          <a:p>
            <a:r>
              <a:rPr lang="en-IN" sz="1600" dirty="0"/>
              <a:t>       ↓</a:t>
            </a:r>
          </a:p>
          <a:p>
            <a:r>
              <a:rPr lang="en-IN" sz="1600" dirty="0"/>
              <a:t>Model Evaluation</a:t>
            </a:r>
          </a:p>
          <a:p>
            <a:r>
              <a:rPr lang="en-IN" sz="1600" dirty="0"/>
              <a:t>       ↓</a:t>
            </a:r>
          </a:p>
          <a:p>
            <a:r>
              <a:rPr lang="en-IN" sz="1600" dirty="0"/>
              <a:t>Best Model Selection</a:t>
            </a:r>
          </a:p>
          <a:p>
            <a:r>
              <a:rPr lang="en-IN" sz="1600" dirty="0"/>
              <a:t>       ↓</a:t>
            </a:r>
          </a:p>
          <a:p>
            <a:r>
              <a:rPr lang="en-IN" sz="1600" dirty="0"/>
              <a:t>Price Prediction</a:t>
            </a:r>
          </a:p>
        </p:txBody>
      </p:sp>
    </p:spTree>
    <p:extLst>
      <p:ext uri="{BB962C8B-B14F-4D97-AF65-F5344CB8AC3E}">
        <p14:creationId xmlns:p14="http://schemas.microsoft.com/office/powerpoint/2010/main" val="2453438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A82879-72B8-1DD4-AFFD-6CFD20FDE360}"/>
              </a:ext>
            </a:extLst>
          </p:cNvPr>
          <p:cNvSpPr txBox="1"/>
          <p:nvPr/>
        </p:nvSpPr>
        <p:spPr>
          <a:xfrm>
            <a:off x="922020" y="1181100"/>
            <a:ext cx="52806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Technologies Used</a:t>
            </a:r>
          </a:p>
          <a:p>
            <a:pPr>
              <a:buNone/>
            </a:pPr>
            <a:r>
              <a:rPr lang="en-IN" b="1" dirty="0"/>
              <a:t>Programming 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Python </a:t>
            </a:r>
          </a:p>
          <a:p>
            <a:pPr>
              <a:buNone/>
            </a:pPr>
            <a:r>
              <a:rPr lang="en-IN" b="1" dirty="0"/>
              <a:t>Libraries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Pandas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NumPy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Matplotlib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Seaborn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Scikit-learn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Joblib</a:t>
            </a:r>
            <a:r>
              <a:rPr lang="en-IN" dirty="0"/>
              <a:t> </a:t>
            </a:r>
          </a:p>
          <a:p>
            <a:pPr>
              <a:buNone/>
            </a:pPr>
            <a:r>
              <a:rPr lang="en-IN" b="1" dirty="0"/>
              <a:t>Environment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Jupyter Notebook </a:t>
            </a:r>
          </a:p>
        </p:txBody>
      </p:sp>
    </p:spTree>
    <p:extLst>
      <p:ext uri="{BB962C8B-B14F-4D97-AF65-F5344CB8AC3E}">
        <p14:creationId xmlns:p14="http://schemas.microsoft.com/office/powerpoint/2010/main" val="3157305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7242B1-42BD-4505-743F-9DAC7F8B5D5B}"/>
              </a:ext>
            </a:extLst>
          </p:cNvPr>
          <p:cNvSpPr txBox="1"/>
          <p:nvPr/>
        </p:nvSpPr>
        <p:spPr>
          <a:xfrm>
            <a:off x="1082040" y="27396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Dataset Description</a:t>
            </a:r>
          </a:p>
          <a:p>
            <a:pPr>
              <a:buNone/>
            </a:pPr>
            <a:r>
              <a:rPr lang="en-IN" b="1" dirty="0"/>
              <a:t>Dataset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Total Records: </a:t>
            </a:r>
            <a:r>
              <a:rPr lang="en-IN" b="1" dirty="0"/>
              <a:t>541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Total Features: </a:t>
            </a:r>
            <a:r>
              <a:rPr lang="en-IN" b="1" dirty="0"/>
              <a:t>12</a:t>
            </a:r>
            <a:r>
              <a:rPr lang="en-IN" dirty="0"/>
              <a:t> </a:t>
            </a:r>
          </a:p>
          <a:p>
            <a:pPr>
              <a:buNone/>
            </a:pPr>
            <a:r>
              <a:rPr lang="en-IN" b="1" dirty="0"/>
              <a:t>Features:</a:t>
            </a:r>
          </a:p>
          <a:p>
            <a:pPr>
              <a:buNone/>
            </a:pPr>
            <a:r>
              <a:rPr lang="en-IN" b="1" dirty="0"/>
              <a:t>Numerical Features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Memory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RAM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Battery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AI Lens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Mobile Height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Price </a:t>
            </a:r>
          </a:p>
          <a:p>
            <a:pPr>
              <a:buNone/>
            </a:pPr>
            <a:r>
              <a:rPr lang="en-IN" b="1" dirty="0"/>
              <a:t>Categorical Features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Colour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Camera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Processor</a:t>
            </a:r>
          </a:p>
        </p:txBody>
      </p:sp>
    </p:spTree>
    <p:extLst>
      <p:ext uri="{BB962C8B-B14F-4D97-AF65-F5344CB8AC3E}">
        <p14:creationId xmlns:p14="http://schemas.microsoft.com/office/powerpoint/2010/main" val="2529597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69514F-92D1-DBCD-4D64-C024BD7A389E}"/>
              </a:ext>
            </a:extLst>
          </p:cNvPr>
          <p:cNvSpPr txBox="1"/>
          <p:nvPr/>
        </p:nvSpPr>
        <p:spPr>
          <a:xfrm>
            <a:off x="662940" y="678180"/>
            <a:ext cx="69570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Dataset Overview</a:t>
            </a:r>
          </a:p>
          <a:p>
            <a:pPr>
              <a:buNone/>
            </a:pPr>
            <a:r>
              <a:rPr lang="en-IN" b="1" dirty="0"/>
              <a:t>Dataset Quality Check</a:t>
            </a:r>
          </a:p>
          <a:p>
            <a:pPr>
              <a:buNone/>
            </a:pPr>
            <a:r>
              <a:rPr lang="en-IN" dirty="0"/>
              <a:t>Results: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Rows: 541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Columns: 12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Missing Values: 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Duplicate Records: 0 </a:t>
            </a:r>
          </a:p>
          <a:p>
            <a:pPr>
              <a:buNone/>
            </a:pPr>
            <a:r>
              <a:rPr lang="en-IN" b="1" dirty="0"/>
              <a:t>Insight:</a:t>
            </a:r>
          </a:p>
          <a:p>
            <a:pPr>
              <a:buNone/>
            </a:pPr>
            <a:r>
              <a:rPr lang="en-IN" dirty="0"/>
              <a:t>Clean data improves model reliability and reduces preprocessing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368935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D07258-235B-7582-7C00-3AF480FBF011}"/>
              </a:ext>
            </a:extLst>
          </p:cNvPr>
          <p:cNvSpPr txBox="1"/>
          <p:nvPr/>
        </p:nvSpPr>
        <p:spPr>
          <a:xfrm>
            <a:off x="678180" y="9296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Exploratory Data Analysis (EDA)</a:t>
            </a:r>
          </a:p>
          <a:p>
            <a:pPr>
              <a:buNone/>
            </a:pPr>
            <a:r>
              <a:rPr lang="en-IN" b="1" dirty="0"/>
              <a:t>Analysis Performed: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Numerical feature distribution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Outlier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Correlation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Feature relationship analysis </a:t>
            </a:r>
          </a:p>
          <a:p>
            <a:pPr>
              <a:buNone/>
            </a:pPr>
            <a:r>
              <a:rPr lang="en-IN" dirty="0"/>
              <a:t>Visualizations: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Histogram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Boxplot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Scatter Plot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Heatmap </a:t>
            </a:r>
          </a:p>
        </p:txBody>
      </p:sp>
    </p:spTree>
    <p:extLst>
      <p:ext uri="{BB962C8B-B14F-4D97-AF65-F5344CB8AC3E}">
        <p14:creationId xmlns:p14="http://schemas.microsoft.com/office/powerpoint/2010/main" val="3669834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C5A33B-0076-4F97-7270-CED63FDBAAF8}"/>
              </a:ext>
            </a:extLst>
          </p:cNvPr>
          <p:cNvSpPr txBox="1"/>
          <p:nvPr/>
        </p:nvSpPr>
        <p:spPr>
          <a:xfrm>
            <a:off x="480060" y="1150620"/>
            <a:ext cx="87020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Important EDA Insights</a:t>
            </a:r>
          </a:p>
          <a:p>
            <a:pPr>
              <a:buNone/>
            </a:pPr>
            <a:r>
              <a:rPr lang="en-IN" b="1" dirty="0"/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Memory has a strong relationship with price.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RAM affects smartphone pricing.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Processor performance influences premium pricing.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Battery capacity contributes to device value.</a:t>
            </a:r>
          </a:p>
        </p:txBody>
      </p:sp>
    </p:spTree>
    <p:extLst>
      <p:ext uri="{BB962C8B-B14F-4D97-AF65-F5344CB8AC3E}">
        <p14:creationId xmlns:p14="http://schemas.microsoft.com/office/powerpoint/2010/main" val="1390739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7EDBF3-E7F0-AC7B-70D0-32652A6128F2}"/>
              </a:ext>
            </a:extLst>
          </p:cNvPr>
          <p:cNvSpPr txBox="1"/>
          <p:nvPr/>
        </p:nvSpPr>
        <p:spPr>
          <a:xfrm>
            <a:off x="731520" y="944881"/>
            <a:ext cx="6393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Feature Engineering</a:t>
            </a:r>
          </a:p>
          <a:p>
            <a:pPr>
              <a:buNone/>
            </a:pPr>
            <a:r>
              <a:rPr lang="en-IN" b="1" dirty="0"/>
              <a:t>Feature Selection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29C63-EA2B-6DF8-D3B6-AFCE8B6BEED3}"/>
              </a:ext>
            </a:extLst>
          </p:cNvPr>
          <p:cNvSpPr txBox="1"/>
          <p:nvPr/>
        </p:nvSpPr>
        <p:spPr>
          <a:xfrm>
            <a:off x="922020" y="2011680"/>
            <a:ext cx="62636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Encoding:</a:t>
            </a:r>
          </a:p>
          <a:p>
            <a:pPr>
              <a:buNone/>
            </a:pPr>
            <a:r>
              <a:rPr lang="en-IN" dirty="0"/>
              <a:t>Applied One-Hot Encoding 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Colour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Rear Camera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Front Camera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Processor </a:t>
            </a:r>
          </a:p>
        </p:txBody>
      </p:sp>
    </p:spTree>
    <p:extLst>
      <p:ext uri="{BB962C8B-B14F-4D97-AF65-F5344CB8AC3E}">
        <p14:creationId xmlns:p14="http://schemas.microsoft.com/office/powerpoint/2010/main" val="294577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BE5ED5-A722-B214-FF73-0CE233DA908D}"/>
              </a:ext>
            </a:extLst>
          </p:cNvPr>
          <p:cNvSpPr txBox="1"/>
          <p:nvPr/>
        </p:nvSpPr>
        <p:spPr>
          <a:xfrm>
            <a:off x="563880" y="67371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Feature Reduction</a:t>
            </a:r>
          </a:p>
          <a:p>
            <a:pPr>
              <a:buNone/>
            </a:pPr>
            <a:r>
              <a:rPr lang="en-IN" b="1" dirty="0"/>
              <a:t>Variance Threshold</a:t>
            </a:r>
          </a:p>
          <a:p>
            <a:pPr>
              <a:buNone/>
            </a:pPr>
            <a:r>
              <a:rPr lang="en-IN" dirty="0"/>
              <a:t>Before: 426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E7D83-113D-1BF6-56AA-73783A4DA0B3}"/>
              </a:ext>
            </a:extLst>
          </p:cNvPr>
          <p:cNvSpPr txBox="1"/>
          <p:nvPr/>
        </p:nvSpPr>
        <p:spPr>
          <a:xfrm>
            <a:off x="617220" y="2017514"/>
            <a:ext cx="69570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After Feature Selection: 63 Important Features</a:t>
            </a:r>
          </a:p>
          <a:p>
            <a:endParaRPr lang="en-IN" dirty="0"/>
          </a:p>
          <a:p>
            <a:r>
              <a:rPr lang="en-IN" b="1" dirty="0"/>
              <a:t>Benefit:</a:t>
            </a:r>
          </a:p>
          <a:p>
            <a:r>
              <a:rPr lang="en-IN" dirty="0"/>
              <a:t>Reduced complexity </a:t>
            </a:r>
          </a:p>
          <a:p>
            <a:r>
              <a:rPr lang="en-IN" dirty="0"/>
              <a:t>Improved efficiency </a:t>
            </a:r>
          </a:p>
          <a:p>
            <a:r>
              <a:rPr lang="en-IN" dirty="0"/>
              <a:t>Removed unnecessary variables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5689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00CCE0-94BE-4194-D171-AE066FCFBAB9}"/>
              </a:ext>
            </a:extLst>
          </p:cNvPr>
          <p:cNvSpPr txBox="1"/>
          <p:nvPr/>
        </p:nvSpPr>
        <p:spPr>
          <a:xfrm>
            <a:off x="929640" y="937260"/>
            <a:ext cx="69159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Model Development</a:t>
            </a:r>
          </a:p>
          <a:p>
            <a:pPr>
              <a:buNone/>
            </a:pPr>
            <a:r>
              <a:rPr lang="en-IN" b="1" dirty="0"/>
              <a:t>Train-Test Split</a:t>
            </a:r>
          </a:p>
          <a:p>
            <a:pPr>
              <a:buNone/>
            </a:pPr>
            <a:r>
              <a:rPr lang="en-IN" dirty="0"/>
              <a:t>Dataset divided into:</a:t>
            </a:r>
          </a:p>
          <a:p>
            <a:pPr>
              <a:buNone/>
            </a:pPr>
            <a:r>
              <a:rPr lang="en-IN" dirty="0"/>
              <a:t>Training Data:80%</a:t>
            </a:r>
          </a:p>
          <a:p>
            <a:pPr>
              <a:buNone/>
            </a:pPr>
            <a:r>
              <a:rPr lang="en-IN" dirty="0"/>
              <a:t>432 records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Testing Data: 20%</a:t>
            </a:r>
          </a:p>
          <a:p>
            <a:pPr>
              <a:buNone/>
            </a:pPr>
            <a:r>
              <a:rPr lang="en-IN" dirty="0"/>
              <a:t>109 records</a:t>
            </a:r>
          </a:p>
        </p:txBody>
      </p:sp>
    </p:spTree>
    <p:extLst>
      <p:ext uri="{BB962C8B-B14F-4D97-AF65-F5344CB8AC3E}">
        <p14:creationId xmlns:p14="http://schemas.microsoft.com/office/powerpoint/2010/main" val="737776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5D9A55-DBF7-35A5-BC54-CC366A26CAFB}"/>
              </a:ext>
            </a:extLst>
          </p:cNvPr>
          <p:cNvSpPr txBox="1"/>
          <p:nvPr/>
        </p:nvSpPr>
        <p:spPr>
          <a:xfrm>
            <a:off x="632460" y="1234440"/>
            <a:ext cx="72557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Machine Learning Models</a:t>
            </a:r>
          </a:p>
          <a:p>
            <a:pPr>
              <a:buNone/>
            </a:pPr>
            <a:r>
              <a:rPr lang="en-IN" dirty="0"/>
              <a:t>Models Used:</a:t>
            </a:r>
          </a:p>
          <a:p>
            <a:pPr>
              <a:buNone/>
            </a:pPr>
            <a:r>
              <a:rPr lang="en-IN" b="1" dirty="0"/>
              <a:t>1. Linear Regression</a:t>
            </a:r>
          </a:p>
          <a:p>
            <a:pPr>
              <a:buNone/>
            </a:pPr>
            <a:r>
              <a:rPr lang="en-IN" dirty="0"/>
              <a:t>Baseline model</a:t>
            </a:r>
          </a:p>
          <a:p>
            <a:pPr>
              <a:buNone/>
            </a:pPr>
            <a:r>
              <a:rPr lang="en-IN" b="1" dirty="0"/>
              <a:t>2. Decision Tree Regressor</a:t>
            </a:r>
          </a:p>
          <a:p>
            <a:pPr>
              <a:buNone/>
            </a:pPr>
            <a:r>
              <a:rPr lang="en-IN" dirty="0"/>
              <a:t>Handles non-linear relationships</a:t>
            </a:r>
          </a:p>
          <a:p>
            <a:pPr>
              <a:buNone/>
            </a:pPr>
            <a:r>
              <a:rPr lang="en-IN" b="1" dirty="0"/>
              <a:t>3. Random Forest Regressor</a:t>
            </a:r>
          </a:p>
          <a:p>
            <a:pPr>
              <a:buNone/>
            </a:pPr>
            <a:r>
              <a:rPr lang="en-IN" dirty="0"/>
              <a:t>Ensemble learning approach</a:t>
            </a:r>
          </a:p>
          <a:p>
            <a:pPr>
              <a:buNone/>
            </a:pPr>
            <a:r>
              <a:rPr lang="en-IN" b="1" dirty="0"/>
              <a:t>4. Gradient Boosting</a:t>
            </a:r>
          </a:p>
          <a:p>
            <a:pPr>
              <a:buNone/>
            </a:pPr>
            <a:r>
              <a:rPr lang="en-IN" dirty="0"/>
              <a:t>Advanced boosting technique</a:t>
            </a:r>
          </a:p>
        </p:txBody>
      </p:sp>
    </p:spTree>
    <p:extLst>
      <p:ext uri="{BB962C8B-B14F-4D97-AF65-F5344CB8AC3E}">
        <p14:creationId xmlns:p14="http://schemas.microsoft.com/office/powerpoint/2010/main" val="759452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267685-4B5B-3077-DD7E-6182DFC92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078941"/>
              </p:ext>
            </p:extLst>
          </p:nvPr>
        </p:nvGraphicFramePr>
        <p:xfrm>
          <a:off x="640080" y="1234441"/>
          <a:ext cx="10713720" cy="4545046"/>
        </p:xfrm>
        <a:graphic>
          <a:graphicData uri="http://schemas.openxmlformats.org/drawingml/2006/table">
            <a:tbl>
              <a:tblPr/>
              <a:tblGrid>
                <a:gridCol w="5356860">
                  <a:extLst>
                    <a:ext uri="{9D8B030D-6E8A-4147-A177-3AD203B41FA5}">
                      <a16:colId xmlns:a16="http://schemas.microsoft.com/office/drawing/2014/main" val="597000701"/>
                    </a:ext>
                  </a:extLst>
                </a:gridCol>
                <a:gridCol w="5356860">
                  <a:extLst>
                    <a:ext uri="{9D8B030D-6E8A-4147-A177-3AD203B41FA5}">
                      <a16:colId xmlns:a16="http://schemas.microsoft.com/office/drawing/2014/main" val="4212972195"/>
                    </a:ext>
                  </a:extLst>
                </a:gridCol>
              </a:tblGrid>
              <a:tr h="4811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 Performance Comparison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Model                          R² Score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Decision Tree              94.96%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Random Forest           91.52%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Gradient Boosting      88.31%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562746"/>
                  </a:ext>
                </a:extLst>
              </a:tr>
              <a:tr h="541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Linear Regression       83.77%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053266"/>
                  </a:ext>
                </a:extLst>
              </a:tr>
              <a:tr h="48110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180403"/>
                  </a:ext>
                </a:extLst>
              </a:tr>
              <a:tr h="48110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103317"/>
                  </a:ext>
                </a:extLst>
              </a:tr>
              <a:tr h="48110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87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5147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2850C5-F79B-A4D6-39C2-4824A622FC31}"/>
              </a:ext>
            </a:extLst>
          </p:cNvPr>
          <p:cNvSpPr txBox="1"/>
          <p:nvPr/>
        </p:nvSpPr>
        <p:spPr>
          <a:xfrm>
            <a:off x="754380" y="1424940"/>
            <a:ext cx="6400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Hyperparameter Optimization</a:t>
            </a:r>
          </a:p>
          <a:p>
            <a:pPr>
              <a:buNone/>
            </a:pPr>
            <a:r>
              <a:rPr lang="en-IN" b="1" dirty="0"/>
              <a:t>Grid Search CV Applied</a:t>
            </a:r>
          </a:p>
          <a:p>
            <a:pPr>
              <a:buNone/>
            </a:pPr>
            <a:r>
              <a:rPr lang="en-IN" b="1" dirty="0"/>
              <a:t>Decision Tree</a:t>
            </a:r>
          </a:p>
          <a:p>
            <a:pPr>
              <a:buNone/>
            </a:pPr>
            <a:r>
              <a:rPr lang="en-IN" dirty="0"/>
              <a:t>Best Parameters: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max_depth</a:t>
            </a:r>
            <a:r>
              <a:rPr lang="en-IN" dirty="0"/>
              <a:t> = None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min_samples_split</a:t>
            </a:r>
            <a:r>
              <a:rPr lang="en-IN" dirty="0"/>
              <a:t> = 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min_samples_leaf</a:t>
            </a:r>
            <a:r>
              <a:rPr lang="en-IN" dirty="0"/>
              <a:t> = 1 </a:t>
            </a:r>
          </a:p>
          <a:p>
            <a:pPr>
              <a:buNone/>
            </a:pPr>
            <a:r>
              <a:rPr lang="en-IN" b="1" dirty="0"/>
              <a:t>Random Forest</a:t>
            </a:r>
          </a:p>
          <a:p>
            <a:pPr>
              <a:buNone/>
            </a:pPr>
            <a:r>
              <a:rPr lang="en-IN" dirty="0"/>
              <a:t>Best Parameters: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n_estimators</a:t>
            </a:r>
            <a:r>
              <a:rPr lang="en-IN" dirty="0"/>
              <a:t> = 300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max_depth</a:t>
            </a:r>
            <a:r>
              <a:rPr lang="en-IN" dirty="0"/>
              <a:t> = 20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max_features</a:t>
            </a:r>
            <a:r>
              <a:rPr lang="en-IN" dirty="0"/>
              <a:t> = log2 </a:t>
            </a:r>
          </a:p>
        </p:txBody>
      </p:sp>
    </p:spTree>
    <p:extLst>
      <p:ext uri="{BB962C8B-B14F-4D97-AF65-F5344CB8AC3E}">
        <p14:creationId xmlns:p14="http://schemas.microsoft.com/office/powerpoint/2010/main" val="1069073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8E8F26-02A9-A5F5-8DF7-D298E29F2036}"/>
              </a:ext>
            </a:extLst>
          </p:cNvPr>
          <p:cNvSpPr txBox="1"/>
          <p:nvPr/>
        </p:nvSpPr>
        <p:spPr>
          <a:xfrm>
            <a:off x="952500" y="1722120"/>
            <a:ext cx="65379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Final Model &amp; Prediction</a:t>
            </a:r>
          </a:p>
          <a:p>
            <a:pPr>
              <a:buNone/>
            </a:pPr>
            <a:r>
              <a:rPr lang="en-IN" b="1" dirty="0"/>
              <a:t>Final Model:</a:t>
            </a:r>
          </a:p>
          <a:p>
            <a:pPr>
              <a:buNone/>
            </a:pPr>
            <a:r>
              <a:rPr lang="en-IN" dirty="0"/>
              <a:t>Random Forest Regressor</a:t>
            </a:r>
          </a:p>
          <a:p>
            <a:pPr>
              <a:buNone/>
            </a:pPr>
            <a:r>
              <a:rPr lang="en-IN" dirty="0"/>
              <a:t>Parameters: </a:t>
            </a:r>
            <a:r>
              <a:rPr lang="en-IN" dirty="0" err="1"/>
              <a:t>n_estimators</a:t>
            </a:r>
            <a:r>
              <a:rPr lang="en-IN" dirty="0"/>
              <a:t> = 300 </a:t>
            </a:r>
            <a:r>
              <a:rPr lang="en-IN" dirty="0" err="1"/>
              <a:t>max_depth</a:t>
            </a:r>
            <a:r>
              <a:rPr lang="en-IN" dirty="0"/>
              <a:t> = 20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Model saved:</a:t>
            </a:r>
          </a:p>
          <a:p>
            <a:pPr>
              <a:buNone/>
            </a:pPr>
            <a:r>
              <a:rPr lang="en-US" dirty="0" err="1"/>
              <a:t>mobile_price_prediction_model.pkl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IN" dirty="0"/>
              <a:t>Prediction Example: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Predicted Price: ₹7491</a:t>
            </a:r>
          </a:p>
        </p:txBody>
      </p:sp>
    </p:spTree>
    <p:extLst>
      <p:ext uri="{BB962C8B-B14F-4D97-AF65-F5344CB8AC3E}">
        <p14:creationId xmlns:p14="http://schemas.microsoft.com/office/powerpoint/2010/main" val="2711176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A794EA-7A00-275D-CCB2-0F718CFAADEA}"/>
              </a:ext>
            </a:extLst>
          </p:cNvPr>
          <p:cNvSpPr txBox="1"/>
          <p:nvPr/>
        </p:nvSpPr>
        <p:spPr>
          <a:xfrm>
            <a:off x="1310640" y="1623060"/>
            <a:ext cx="64846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Feature Importance &amp; Business Insights</a:t>
            </a:r>
          </a:p>
          <a:p>
            <a:pPr>
              <a:buNone/>
            </a:pPr>
            <a:r>
              <a:rPr lang="en-IN" b="1" dirty="0"/>
              <a:t>Most Important Features:</a:t>
            </a:r>
          </a:p>
          <a:p>
            <a:pPr>
              <a:buFont typeface="+mj-lt"/>
              <a:buAutoNum type="arabicPeriod"/>
            </a:pPr>
            <a:r>
              <a:rPr lang="en-IN" dirty="0"/>
              <a:t>Memory </a:t>
            </a:r>
          </a:p>
          <a:p>
            <a:pPr>
              <a:buFont typeface="+mj-lt"/>
              <a:buAutoNum type="arabicPeriod"/>
            </a:pPr>
            <a:r>
              <a:rPr lang="en-IN" dirty="0"/>
              <a:t>Front Camera </a:t>
            </a:r>
          </a:p>
          <a:p>
            <a:pPr>
              <a:buFont typeface="+mj-lt"/>
              <a:buAutoNum type="arabicPeriod"/>
            </a:pPr>
            <a:r>
              <a:rPr lang="en-IN" dirty="0"/>
              <a:t>Mobile Height </a:t>
            </a:r>
          </a:p>
          <a:p>
            <a:pPr>
              <a:buFont typeface="+mj-lt"/>
              <a:buAutoNum type="arabicPeriod"/>
            </a:pPr>
            <a:r>
              <a:rPr lang="en-IN" dirty="0"/>
              <a:t>Battery </a:t>
            </a:r>
          </a:p>
          <a:p>
            <a:pPr>
              <a:buFont typeface="+mj-lt"/>
              <a:buAutoNum type="arabicPeriod"/>
            </a:pPr>
            <a:r>
              <a:rPr lang="en-IN" dirty="0"/>
              <a:t>RAM </a:t>
            </a:r>
          </a:p>
          <a:p>
            <a:pPr>
              <a:buNone/>
            </a:pPr>
            <a:r>
              <a:rPr lang="en-IN" b="1" dirty="0"/>
              <a:t>Business 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Higher storage increases premium pricing.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Camera quality influences customer preference.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Battery capacity improves product value.</a:t>
            </a:r>
          </a:p>
        </p:txBody>
      </p:sp>
    </p:spTree>
    <p:extLst>
      <p:ext uri="{BB962C8B-B14F-4D97-AF65-F5344CB8AC3E}">
        <p14:creationId xmlns:p14="http://schemas.microsoft.com/office/powerpoint/2010/main" val="1280563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A5465D-FD15-54EC-CC2B-DFDDBB502A97}"/>
              </a:ext>
            </a:extLst>
          </p:cNvPr>
          <p:cNvSpPr txBox="1"/>
          <p:nvPr/>
        </p:nvSpPr>
        <p:spPr>
          <a:xfrm>
            <a:off x="876300" y="1417320"/>
            <a:ext cx="60274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Conclusion &amp; Future Scope</a:t>
            </a:r>
          </a:p>
          <a:p>
            <a:pPr>
              <a:buNone/>
            </a:pPr>
            <a:r>
              <a:rPr lang="en-IN" b="1" dirty="0"/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Machine learning successfully predicted mobile prices.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Feature engineering improved model performance.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Important pricing factors were identified. </a:t>
            </a:r>
          </a:p>
          <a:p>
            <a:pPr>
              <a:buNone/>
            </a:pPr>
            <a:r>
              <a:rPr lang="en-IN" b="1" dirty="0"/>
              <a:t>Future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more smartphone datasets.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Include: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Display type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Refresh rate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5G support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Customer reviews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Deploy as a web application using Flask/</a:t>
            </a:r>
            <a:r>
              <a:rPr lang="en-IN" dirty="0" err="1"/>
              <a:t>Streamlit</a:t>
            </a:r>
            <a:r>
              <a:rPr lang="en-IN" dirty="0"/>
              <a:t>. </a:t>
            </a:r>
          </a:p>
          <a:p>
            <a:pPr>
              <a:buNone/>
            </a:pPr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95831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615</Words>
  <Application>Microsoft Office PowerPoint</Application>
  <PresentationFormat>Widescreen</PresentationFormat>
  <Paragraphs>188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Features Extracation and Price Prediction for mobile Phones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meghavashishtha1998@outlook.com</dc:creator>
  <cp:lastModifiedBy>meghavashishtha1998@outlook.com</cp:lastModifiedBy>
  <cp:revision>1</cp:revision>
  <dcterms:created xsi:type="dcterms:W3CDTF">2026-07-11T18:46:08Z</dcterms:created>
  <dcterms:modified xsi:type="dcterms:W3CDTF">2026-07-11T19:11:58Z</dcterms:modified>
</cp:coreProperties>
</file>